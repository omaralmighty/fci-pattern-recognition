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36202-3ECB-4595-B2AD-55C57BB51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15376-C23D-42E6-A15F-25D9943C4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9025-8EA8-4E1C-9170-695950878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0588-95C8-42FF-BA45-C5BE5BB8477C}" type="datetimeFigureOut">
              <a:rPr lang="en-US" smtClean="0"/>
              <a:t>12/18/2021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48AED-1F72-418D-82AC-4E32F9A7D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26BBD-C218-49D9-BFC0-651CEFE5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4D1-43EE-47FF-BA3D-4A5A2AFE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520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0DE22-D366-42BE-A341-E6CD13B77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3BBD5-697B-47C4-BFC9-01F64D71C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51398-152E-413C-8896-41934BFF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0588-95C8-42FF-BA45-C5BE5BB8477C}" type="datetimeFigureOut">
              <a:rPr lang="en-US" smtClean="0"/>
              <a:t>12/18/2021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B8543-D941-4E54-84CC-0B02917A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788B8-74E4-474B-8029-87F080948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4D1-43EE-47FF-BA3D-4A5A2AFE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43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B8E98-5F19-4573-9CCB-1A77A30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253A2-A91C-4CB9-9573-B33BD3B2A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60EFA-5833-4093-B0C4-548932518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0588-95C8-42FF-BA45-C5BE5BB8477C}" type="datetimeFigureOut">
              <a:rPr lang="en-US" smtClean="0"/>
              <a:t>12/18/2021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122B6-0E92-401D-8782-0BB16BB81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F9BCE-B538-4125-BDB7-13CB3DE7F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4D1-43EE-47FF-BA3D-4A5A2AFE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2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9DB8F-0FDD-4517-86D6-9B037CB05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D88B3-E176-4C48-9315-FA894B624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9C729-AD0B-44AE-89A0-0E3F63692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6E979-254D-44D8-85BF-93710A058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0588-95C8-42FF-BA45-C5BE5BB8477C}" type="datetimeFigureOut">
              <a:rPr lang="en-US" smtClean="0"/>
              <a:t>12/18/2021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CD8EE-E969-447F-861E-5E77ADD55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0BCB8-8756-4CB1-8AB6-C6309BB0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4D1-43EE-47FF-BA3D-4A5A2AFE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80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A30B-B13F-40C2-96ED-955F9819A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A70F0-977E-4317-92F1-79B5A32F4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F0C30-371B-481A-A5DF-4DFE7DAE5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016BC0-DCCC-4190-B4FE-2317C0988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BE70BA-8C4B-47D1-9121-7730769750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465762-58F2-4E6A-9632-164CA9BA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0588-95C8-42FF-BA45-C5BE5BB8477C}" type="datetimeFigureOut">
              <a:rPr lang="en-US" smtClean="0"/>
              <a:t>12/18/2021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0E6E36-F14F-4B28-AEF2-8CE9DD70A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AD4EF8-7DD7-4ECB-8FD5-977B746DF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4D1-43EE-47FF-BA3D-4A5A2AFE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676CC-AFE4-4233-92F0-6E4306BEC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5DF6C-1AC1-4E11-953B-840922A71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0588-95C8-42FF-BA45-C5BE5BB8477C}" type="datetimeFigureOut">
              <a:rPr lang="en-US" smtClean="0"/>
              <a:t>12/18/2021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E49310-543A-4F53-AED1-7D18A5A7E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9656E-C58F-40CC-BEA6-1D17D53B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4D1-43EE-47FF-BA3D-4A5A2AFE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44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7C818A-75D6-4FC2-9C75-6DF189D48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0588-95C8-42FF-BA45-C5BE5BB8477C}" type="datetimeFigureOut">
              <a:rPr lang="en-US" smtClean="0"/>
              <a:t>12/18/2021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D83196-D5D7-42E6-9E67-EC92CF8DE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5CE72-2B94-4EDB-9CA8-2ADAAD7DB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4D1-43EE-47FF-BA3D-4A5A2AFE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58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00A2A-5888-45F0-AC45-7D9D73289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06D70-CDB4-42CD-9EEC-6DBD70415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7E28BB-8E03-4264-8987-D6A5D2990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864F2-5006-4D5E-9523-26CF75A1B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0588-95C8-42FF-BA45-C5BE5BB8477C}" type="datetimeFigureOut">
              <a:rPr lang="en-US" smtClean="0"/>
              <a:t>12/18/2021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D0F9D5-B721-465B-8B0B-B8B1B7043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1639E-D436-49B9-AC6C-B05AC69EF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4D1-43EE-47FF-BA3D-4A5A2AFE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73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93493-E054-469B-8FED-16D0ADA6E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E5D9DF-A0B3-4B17-8F1B-9FEA389C10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7735E-8988-44E0-8C2E-C9452C9F2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9899B-26DE-4564-852E-95029E6B8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0588-95C8-42FF-BA45-C5BE5BB8477C}" type="datetimeFigureOut">
              <a:rPr lang="en-US" smtClean="0"/>
              <a:t>12/18/2021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B4B8C-B2E5-4E27-9ADF-1E92D9360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69DF0-6B13-41CB-A23C-CEF5ED03B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4D1-43EE-47FF-BA3D-4A5A2AFE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261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45963-84AB-4332-884E-B796D1FBB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50534-421F-4F94-9E0C-766EC0DCB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B0F65-FDF0-430B-B00E-FE6CA290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0588-95C8-42FF-BA45-C5BE5BB8477C}" type="datetimeFigureOut">
              <a:rPr lang="en-US" smtClean="0"/>
              <a:t>12/18/2021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7B846-35C7-440B-BC85-7C0223B7B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298FD-22A3-4DAC-9D8D-3CC635F7C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4D1-43EE-47FF-BA3D-4A5A2AFE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306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78C555-7064-4879-A54E-220A8AC4A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69E965-DBEB-4143-9079-8F6DCC787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52AC2-27B0-4276-A128-C77106743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F0588-95C8-42FF-BA45-C5BE5BB8477C}" type="datetimeFigureOut">
              <a:rPr lang="en-US" smtClean="0"/>
              <a:t>12/18/2021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5243D-D530-45DA-AF3E-73C4511A4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D70EF-CE70-415A-8BE8-1B01160E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4D1-43EE-47FF-BA3D-4A5A2AFE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53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6B3AB8-76B2-47B3-AAE8-86E118AA3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F3468-706B-4CCF-BDCC-58BDE5F79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5830" y="1844675"/>
            <a:ext cx="1150033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60DEE-38B1-4F49-AD70-929009FFD2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F0588-95C8-42FF-BA45-C5BE5BB8477C}" type="datetimeFigureOut">
              <a:rPr lang="en-US" smtClean="0"/>
              <a:t>12/18/2021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575A1-C832-4924-89FA-EEB3CD61A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33D94-2F75-4024-B1B8-5DB341EDA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2B4D1-43EE-47FF-BA3D-4A5A2AFE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570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864D-FEEF-4DC6-A92B-F9D8314E8E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Pattern Recognition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F0B4C9-F066-4148-9010-42DD6D1663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Probability Distributions </a:t>
            </a:r>
          </a:p>
        </p:txBody>
      </p:sp>
    </p:spTree>
    <p:extLst>
      <p:ext uri="{BB962C8B-B14F-4D97-AF65-F5344CB8AC3E}">
        <p14:creationId xmlns:p14="http://schemas.microsoft.com/office/powerpoint/2010/main" val="1164973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72365-545D-440A-B5A6-08468C143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5F8198E-724F-4768-B921-F6ED0BE2F9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4660226"/>
              </p:ext>
            </p:extLst>
          </p:nvPr>
        </p:nvGraphicFramePr>
        <p:xfrm>
          <a:off x="2185309" y="2501623"/>
          <a:ext cx="7821381" cy="1554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21381">
                  <a:extLst>
                    <a:ext uri="{9D8B030D-6E8A-4147-A177-3AD203B41FA5}">
                      <a16:colId xmlns:a16="http://schemas.microsoft.com/office/drawing/2014/main" val="2881797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CH 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79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Introduction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424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Beta Distribution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292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3038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BA66-13B6-4775-A2A3-CBFA9CFC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73F553-55F9-4F75-A463-69B9C6F401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Bernoulli distribution: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𝐵𝑒𝑟𝑛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) =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l-GR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Mean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Variance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𝑣𝑎𝑟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Maximum likelihood estimator (sample mean)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𝑀𝐿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73F553-55F9-4F75-A463-69B9C6F401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4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9804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BA66-13B6-4775-A2A3-CBFA9CFC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73F553-55F9-4F75-A463-69B9C6F401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Binomial distribution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Mean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Variance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br>
                  <a:rPr lang="en-US" dirty="0"/>
                </a:br>
                <a:endParaRPr lang="en-US" dirty="0"/>
              </a:p>
              <a:p>
                <a:pPr lvl="1"/>
                <a:r>
                  <a:rPr lang="en-US" dirty="0"/>
                  <a:t>Maximum likelihood estimator (sample mean)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𝑀𝐿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73F553-55F9-4F75-A463-69B9C6F401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4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7424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BA66-13B6-4775-A2A3-CBFA9CFC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73F553-55F9-4F75-A463-69B9C6F401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The maximum likelihood setting for the parameter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 in the Bernoulli and binomial distributions is given by the fraction of the observations in the data set having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r>
                  <a:rPr lang="en-GB" dirty="0"/>
                  <a:t>.</a:t>
                </a:r>
              </a:p>
              <a:p>
                <a:pPr lvl="1"/>
                <a:r>
                  <a:rPr lang="en-GB" dirty="0"/>
                  <a:t>This causes over-fitting for small data sets.</a:t>
                </a:r>
                <a:br>
                  <a:rPr lang="en-GB" dirty="0"/>
                </a:br>
                <a:endParaRPr lang="en-GB" dirty="0"/>
              </a:p>
              <a:p>
                <a:r>
                  <a:rPr lang="en-GB" dirty="0"/>
                  <a:t>We solve this problem by using a Bayesian approach</a:t>
                </a:r>
              </a:p>
              <a:p>
                <a:pPr lvl="1"/>
                <a:r>
                  <a:rPr lang="en-GB" dirty="0"/>
                  <a:t>Introducing a prior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73F553-55F9-4F75-A463-69B9C6F401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4" t="-2384" r="-10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15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BA66-13B6-4775-A2A3-CBFA9CFC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73F553-55F9-4F75-A463-69B9C6F401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We choose a prior, called the beta distribution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𝐵𝑒𝑡𝑎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the gamma function (an extension of the factorial function to the real numbers)</a:t>
                </a:r>
              </a:p>
              <a:p>
                <a:pPr lvl="1"/>
                <a:r>
                  <a:rPr lang="en-GB" dirty="0"/>
                  <a:t>Mean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Variance 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The parameters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are hyperparameters to control the 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73F553-55F9-4F75-A463-69B9C6F401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4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0061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BA66-13B6-4775-A2A3-CBFA9CFC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83F8126-F571-42C4-97AC-B397326600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Plots of the beta distribution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𝐵𝑒𝑡𝑎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err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</a:t>
                </a:r>
                <a:br>
                  <a:rPr lang="en-GB" dirty="0"/>
                </a:br>
                <a:r>
                  <a:rPr lang="en-GB" dirty="0"/>
                  <a:t>as a function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 for </a:t>
                </a:r>
                <a:br>
                  <a:rPr lang="en-GB" dirty="0"/>
                </a:br>
                <a:r>
                  <a:rPr lang="en-GB" dirty="0"/>
                  <a:t>various values of the </a:t>
                </a:r>
                <a:br>
                  <a:rPr lang="en-GB" dirty="0"/>
                </a:br>
                <a:r>
                  <a:rPr lang="en-GB" dirty="0"/>
                  <a:t>hyperparameters a and b.</a:t>
                </a: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83F8126-F571-42C4-97AC-B397326600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4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51BE1640-6E69-4409-8C94-233056E23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1485" y="1690688"/>
            <a:ext cx="7031115" cy="486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538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BA66-13B6-4775-A2A3-CBFA9CFC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83F8126-F571-42C4-97AC-B397326600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posterior distribution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 is now obtained by multiplying the beta prior by the binomial likelihood function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 ∝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1 − </m:t>
                            </m:r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are hyperparameters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is the sample mean (maximum likelihood estimator)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corresponds to the complement of the value we predict (</a:t>
                </a:r>
                <a:r>
                  <a:rPr lang="en-GB" dirty="0"/>
                  <a:t>number of ‘tails’ or 0s in the coin example)</a:t>
                </a: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83F8126-F571-42C4-97AC-B397326600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4" t="-2384" r="-10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2549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BA66-13B6-4775-A2A3-CBFA9CFC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83F8126-F571-42C4-97AC-B397326600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Beta distribution provides the conjugate prior for the Bernoulli distribution.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sepChr m:val="∣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i="1">
                            <a:latin typeface="Cambria Math" panose="02040503050406030204" pitchFamily="18" charset="0"/>
                          </a:rPr>
                          <m:t>𝛤</m:t>
                        </m:r>
                        <m:d>
                          <m:dPr>
                            <m:ctrlPr>
                              <a:rPr lang="el-G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num>
                      <m:den>
                        <m:r>
                          <a:rPr lang="el-GR" i="1">
                            <a:latin typeface="Cambria Math" panose="02040503050406030204" pitchFamily="18" charset="0"/>
                          </a:rPr>
                          <m:t>𝛤</m:t>
                        </m:r>
                        <m:d>
                          <m:dPr>
                            <m:ctrlPr>
                              <a:rPr lang="el-G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l-GR" i="1">
                            <a:latin typeface="Cambria Math" panose="02040503050406030204" pitchFamily="18" charset="0"/>
                          </a:rPr>
                          <m:t>𝛤</m:t>
                        </m:r>
                        <m:d>
                          <m:dPr>
                            <m:ctrlPr>
                              <a:rPr lang="el-G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83F8126-F571-42C4-97AC-B397326600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4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9524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BA66-13B6-4775-A2A3-CBFA9CFC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83F8126-F571-42C4-97AC-B397326600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Now the predictive distribution is given by combining the: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 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83F8126-F571-42C4-97AC-B397326600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4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2B8AAD9-7D4A-46A0-A6DE-4987B66E2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23" y="2894751"/>
            <a:ext cx="2295525" cy="962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B1D17D-DBAD-49AF-8B28-358F55F6A4F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40"/>
          <a:stretch/>
        </p:blipFill>
        <p:spPr>
          <a:xfrm>
            <a:off x="4483548" y="2958031"/>
            <a:ext cx="7602938" cy="7955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34A377-EC0C-4D97-ABCA-A0EF16EED94B}"/>
              </a:ext>
            </a:extLst>
          </p:cNvPr>
          <p:cNvSpPr txBox="1"/>
          <p:nvPr/>
        </p:nvSpPr>
        <p:spPr>
          <a:xfrm>
            <a:off x="586147" y="2633092"/>
            <a:ext cx="296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 of the Beta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86DF54-61F1-4809-BAB4-0264F8A328DD}"/>
                  </a:ext>
                </a:extLst>
              </p:cNvPr>
              <p:cNvSpPr txBox="1"/>
              <p:nvPr/>
            </p:nvSpPr>
            <p:spPr>
              <a:xfrm>
                <a:off x="6822197" y="2613145"/>
                <a:ext cx="30157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The posterior 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86DF54-61F1-4809-BAB4-0264F8A32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2197" y="2613145"/>
                <a:ext cx="3015762" cy="369332"/>
              </a:xfrm>
              <a:prstGeom prst="rect">
                <a:avLst/>
              </a:prstGeom>
              <a:blipFill>
                <a:blip r:embed="rId5"/>
                <a:stretch>
                  <a:fillRect l="-1616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74EE87-17F8-4244-B338-D4BCC802339A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018851" y="3856776"/>
            <a:ext cx="1195497" cy="590969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7C3E8DE-0AA4-47E3-9E4C-DC098B5E9AFB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8159200" y="3835490"/>
            <a:ext cx="135724" cy="59230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lus Sign 20">
            <a:extLst>
              <a:ext uri="{FF2B5EF4-FFF2-40B4-BE49-F238E27FC236}">
                <a16:creationId xmlns:a16="http://schemas.microsoft.com/office/drawing/2014/main" id="{CA61C06D-100F-4359-B636-1290413DB528}"/>
              </a:ext>
            </a:extLst>
          </p:cNvPr>
          <p:cNvSpPr/>
          <p:nvPr/>
        </p:nvSpPr>
        <p:spPr>
          <a:xfrm>
            <a:off x="3646789" y="2837175"/>
            <a:ext cx="768091" cy="795569"/>
          </a:xfrm>
          <a:prstGeom prst="mathPlu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499F68-BF11-405A-A8D2-44F03163BAE9}"/>
              </a:ext>
            </a:extLst>
          </p:cNvPr>
          <p:cNvSpPr/>
          <p:nvPr/>
        </p:nvSpPr>
        <p:spPr>
          <a:xfrm>
            <a:off x="479394" y="2613145"/>
            <a:ext cx="3078914" cy="124363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9B95AF-E91B-4220-A9ED-5162BD6EBE74}"/>
              </a:ext>
            </a:extLst>
          </p:cNvPr>
          <p:cNvSpPr/>
          <p:nvPr/>
        </p:nvSpPr>
        <p:spPr>
          <a:xfrm>
            <a:off x="4503362" y="2591859"/>
            <a:ext cx="7583123" cy="124363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21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BA66-13B6-4775-A2A3-CBFA9CFC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83F8126-F571-42C4-97AC-B397326600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Plot the Beta distribution for different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],  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],  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],  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83F8126-F571-42C4-97AC-B397326600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4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9004EFAF-58E2-433C-A101-0B3A5489F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64" y="3144668"/>
            <a:ext cx="7647006" cy="32053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AF4AD39-731C-40A7-B242-807B09A23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837" y="3343263"/>
            <a:ext cx="4084882" cy="278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870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BA66-13B6-4775-A2A3-CBFA9CFC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83F8126-F571-42C4-97AC-B397326600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Let’s test the Bernoulli distribution using Maximum likelihood estimator and the Bernoulli distribution using Bayesian estimation (Beta distribution)</a:t>
                </a:r>
                <a:endParaRPr lang="ar-EG" dirty="0"/>
              </a:p>
              <a:p>
                <a:pPr lvl="1"/>
                <a:r>
                  <a:rPr lang="en-US" dirty="0"/>
                  <a:t>Try different values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for the beta distribution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83F8126-F571-42C4-97AC-B397326600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4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09888E7-F853-407B-ADC0-F03B377CF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286" y="3425825"/>
            <a:ext cx="9115425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62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y slides temp" id="{CCF2DD96-9C6A-4AE9-AE0E-20BC80DD74B2}" vid="{4BA1836E-024D-46BE-80C5-761B29890B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 slides temp</Template>
  <TotalTime>843</TotalTime>
  <Words>456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Pattern Recognition </vt:lpstr>
      <vt:lpstr>Content</vt:lpstr>
      <vt:lpstr>Introduction</vt:lpstr>
      <vt:lpstr>Introduction</vt:lpstr>
      <vt:lpstr>Introduction</vt:lpstr>
      <vt:lpstr>Beta Distribution</vt:lpstr>
      <vt:lpstr>Beta Distribution</vt:lpstr>
      <vt:lpstr>Beta Distribution</vt:lpstr>
      <vt:lpstr>Beta Distribution</vt:lpstr>
      <vt:lpstr>Beta Distribution</vt:lpstr>
      <vt:lpstr>Beta Distribution</vt:lpstr>
      <vt:lpstr>Beta Distribution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Omar Atef</dc:creator>
  <cp:lastModifiedBy>Omar Atef</cp:lastModifiedBy>
  <cp:revision>10</cp:revision>
  <dcterms:created xsi:type="dcterms:W3CDTF">2021-12-07T06:41:21Z</dcterms:created>
  <dcterms:modified xsi:type="dcterms:W3CDTF">2021-12-18T19:27:54Z</dcterms:modified>
</cp:coreProperties>
</file>